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Fraunces Extra Bold"/>
      <p:regular r:id="rId13"/>
    </p:embeddedFont>
    <p:embeddedFont>
      <p:font typeface="Fraunces Extra Bold"/>
      <p:regular r:id="rId14"/>
    </p:embeddedFont>
    <p:embeddedFont>
      <p:font typeface="Nobile"/>
      <p:regular r:id="rId15"/>
    </p:embeddedFont>
    <p:embeddedFont>
      <p:font typeface="Nobile"/>
      <p:regular r:id="rId16"/>
    </p:embeddedFont>
    <p:embeddedFont>
      <p:font typeface="Nobile"/>
      <p:regular r:id="rId17"/>
    </p:embeddedFont>
    <p:embeddedFont>
      <p:font typeface="Nobile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44033"/>
            <a:ext cx="126520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Nyaya – The Agentic Legal Navigator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63310" y="3875961"/>
            <a:ext cx="60960" cy="1640086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4" name="Text 2"/>
          <p:cNvSpPr/>
          <p:nvPr/>
        </p:nvSpPr>
        <p:spPr>
          <a:xfrm>
            <a:off x="1081564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Vision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81564" y="4396859"/>
            <a:ext cx="387084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Voice-First Legal Triage for Marginalized Communities.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05413" y="3875961"/>
            <a:ext cx="60960" cy="1640086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7" name="Text 5"/>
          <p:cNvSpPr/>
          <p:nvPr/>
        </p:nvSpPr>
        <p:spPr>
          <a:xfrm>
            <a:off x="5523667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Mission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23667" y="4396859"/>
            <a:ext cx="387084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Breaking the procedural barrier for RTI, Domestic Violence (PWDVA), and Mutual Consent Divorce.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7515" y="3875961"/>
            <a:ext cx="60960" cy="1640086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9965769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Tech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965769" y="4396859"/>
            <a:ext cx="387084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Llama 3.3 70B + Groq + ChromaDB RAG.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9888"/>
            <a:ext cx="105239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Problem: Jargon is a Gatekeeper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72295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Accessibility Crisis: Citizens know they have rights but cannot navigate the complex, jargon-heavy paperwork.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Action Gap: Static chatbots give advice; they don't give you the ready-to-submit document.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Language Barrier: Legal aid is rarely available in native regional languages.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5007"/>
            <a:ext cx="109597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Architecture: Hybrid Retrieval Engine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27415"/>
            <a:ext cx="4196358" cy="3137059"/>
          </a:xfrm>
          <a:prstGeom prst="roundRect">
            <a:avLst>
              <a:gd name="adj" fmla="val 6508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3157895"/>
            <a:ext cx="4135398" cy="680442"/>
          </a:xfrm>
          <a:prstGeom prst="roundRect">
            <a:avLst>
              <a:gd name="adj" fmla="val 24627"/>
            </a:avLst>
          </a:prstGeom>
          <a:solidFill>
            <a:srgbClr val="E8F3E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1888" y="3327916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4065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Live Web Fetcher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455556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Primary source. Fetches real-time data from CIC, IndiaCode, and NALSA portals (6s timeout).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127415"/>
            <a:ext cx="4196358" cy="3137059"/>
          </a:xfrm>
          <a:prstGeom prst="roundRect">
            <a:avLst>
              <a:gd name="adj" fmla="val 6508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47442" y="3157895"/>
            <a:ext cx="4135398" cy="680442"/>
          </a:xfrm>
          <a:prstGeom prst="roundRect">
            <a:avLst>
              <a:gd name="adj" fmla="val 24627"/>
            </a:avLst>
          </a:prstGeom>
          <a:solidFill>
            <a:srgbClr val="E8F3E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060" y="3327916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4256" y="4065151"/>
            <a:ext cx="33582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Semantic RAG Fallback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74256" y="455556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If web data is insufficient (&lt;300 chars), the system triggers ChromaDB with local legal chunks.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127415"/>
            <a:ext cx="4196358" cy="3137059"/>
          </a:xfrm>
          <a:prstGeom prst="roundRect">
            <a:avLst>
              <a:gd name="adj" fmla="val 6508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70613" y="3157895"/>
            <a:ext cx="4135398" cy="680442"/>
          </a:xfrm>
          <a:prstGeom prst="roundRect">
            <a:avLst>
              <a:gd name="adj" fmla="val 24627"/>
            </a:avLst>
          </a:prstGeom>
          <a:solidFill>
            <a:srgbClr val="E8F3E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68232" y="3327916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97427" y="4065151"/>
            <a:ext cx="29026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Language Mirroring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97427" y="455556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detects input (Tamil, Hindi, Malayalam) and responds in the same language.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5288"/>
            <a:ext cx="94563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Innovation: Agentic Form-Filling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67695"/>
            <a:ext cx="4196358" cy="2456617"/>
          </a:xfrm>
          <a:prstGeom prst="roundRect">
            <a:avLst>
              <a:gd name="adj" fmla="val 831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Gap Analysis: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421540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AI doesn't just 'chat.' It treats legal forms as a target schema.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467695"/>
            <a:ext cx="4196358" cy="2456617"/>
          </a:xfrm>
          <a:prstGeom prst="roundRect">
            <a:avLst>
              <a:gd name="adj" fmla="val 831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Interviewer: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4215408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 extracts fields from voice transcripts; if a field is null, it proactively asks the user for that specific detail.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467695"/>
            <a:ext cx="4196358" cy="2456617"/>
          </a:xfrm>
          <a:prstGeom prst="roundRect">
            <a:avLst>
              <a:gd name="adj" fmla="val 831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Technical Proof: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421540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extraction of Name, Department, and BPL status from unstructured speech.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5288"/>
            <a:ext cx="101392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Ethical Guardrails &amp; PDF Synthesis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67695"/>
            <a:ext cx="4196358" cy="2456617"/>
          </a:xfrm>
          <a:prstGeom prst="roundRect">
            <a:avLst>
              <a:gd name="adj" fmla="val 831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Kill Switch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4215408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Semantically blocks out-of-scope queries (Income Tax, Property) and unethical requests (scripts to lie in court).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467695"/>
            <a:ext cx="4196358" cy="2456617"/>
          </a:xfrm>
          <a:prstGeom prst="roundRect">
            <a:avLst>
              <a:gd name="adj" fmla="val 831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724989"/>
            <a:ext cx="29220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Automated Drafting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4215408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Generates professionally formatted PDF drafts with exact act citations (e.g., Section 12 PWDVA).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467695"/>
            <a:ext cx="4196358" cy="2456617"/>
          </a:xfrm>
          <a:prstGeom prst="roundRect">
            <a:avLst>
              <a:gd name="adj" fmla="val 831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Safety Layer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421540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Every document includes a mandatory disclaimer and 'How to File' procedure box.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07732"/>
            <a:ext cx="84871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Current Progress &amp; Roadmap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63310" y="3939659"/>
            <a:ext cx="60960" cy="151257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4" name="Text 2"/>
          <p:cNvSpPr/>
          <p:nvPr/>
        </p:nvSpPr>
        <p:spPr>
          <a:xfrm>
            <a:off x="1081564" y="3970139"/>
            <a:ext cx="387084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Status: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All core API endpoints (/analyze, /extract_form, /generate_form_pdf) are verified and operational.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205413" y="3939659"/>
            <a:ext cx="60960" cy="151257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5523667" y="3970139"/>
            <a:ext cx="387084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Next Steps: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Integration of direct submission APIs for government portals and expanding the RAG vault to Labour Laws.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9647515" y="3939659"/>
            <a:ext cx="60960" cy="151257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8" name="Text 6"/>
          <p:cNvSpPr/>
          <p:nvPr/>
        </p:nvSpPr>
        <p:spPr>
          <a:xfrm>
            <a:off x="9965769" y="3970139"/>
            <a:ext cx="387084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Closing: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Making the law accessible, actionable, and intellectually dangerous for the common man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2026-02-22T11:51:15Z</dcterms:created>
  <dcterms:modified xsi:type="dcterms:W3CDTF">2026-02-22T11:51:15Z</dcterms:modified>
</cp:coreProperties>
</file>